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Lato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  <p:embeddedFont>
      <p:font typeface="Poppins ExtraBold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A1C16D-C562-49E4-AE1B-855C4B65312B}">
  <a:tblStyle styleId="{AEA1C16D-C562-49E4-AE1B-855C4B65312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ExtraBold-bold.fntdata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oppinsExtra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a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10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11" Type="http://schemas.openxmlformats.org/officeDocument/2006/relationships/image" Target="../media/image23.png"/><Relationship Id="rId10" Type="http://schemas.openxmlformats.org/officeDocument/2006/relationships/image" Target="../media/image42.png"/><Relationship Id="rId9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39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30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43.png"/><Relationship Id="rId8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image" Target="../media/image41.png"/><Relationship Id="rId7" Type="http://schemas.openxmlformats.org/officeDocument/2006/relationships/image" Target="../media/image4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0.png"/><Relationship Id="rId5" Type="http://schemas.openxmlformats.org/officeDocument/2006/relationships/image" Target="../media/image33.png"/><Relationship Id="rId6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7.png"/><Relationship Id="rId5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8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6215" y="2019300"/>
            <a:ext cx="3699569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35547" y="4133850"/>
            <a:ext cx="7720905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446240" y="2105025"/>
            <a:ext cx="329951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CAREER COMPASS SG · SECTION 2 OF 4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771900" y="4381500"/>
            <a:ext cx="1457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MODULE ASSIGNMENT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771900" y="4581525"/>
            <a:ext cx="1457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Module 1 · Group 7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00750" y="4381500"/>
            <a:ext cx="2419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OFFICIAL TIME ALLOCATION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00750" y="4581525"/>
            <a:ext cx="241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3:30 Mins)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398506" y="2609850"/>
            <a:ext cx="7394986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Process &amp; Data Handling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638425" y="3457575"/>
            <a:ext cx="6915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How we transformed 1 million messy rows into actionable intelligence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3652837"/>
            <a:ext cx="1143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802510" y="2300287"/>
            <a:ext cx="58682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PART 1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2496022" y="2481262"/>
            <a:ext cx="7199806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Data Architecture &amp; Pipeline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2286000" y="3929062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Scaling Python &amp; pandas ETL pipelines to process 273 megabytes across 1.05 million job records in 15 seconds.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2687" y="2047875"/>
            <a:ext cx="5348287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89852" y="581025"/>
            <a:ext cx="1121122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923925" y="2357437"/>
            <a:ext cx="5005387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Pure Python &amp; Pandas Stack: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Designed entirely around a high-performance ETL pipeline processing a raw 273 MB dataset (~1.05M rows).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23925" y="3300412"/>
            <a:ext cx="500538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50,000-Row Prototyping: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Rules and transformations were first validated on a 50k row sample before scaling up to the full file.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23925" y="3986212"/>
            <a:ext cx="500538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Chunked Processing Strategy: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full dataset is read in 6 parallel chunks of 200,000 rows each to optimize memory consumption.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23925" y="4672012"/>
            <a:ext cx="500538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Sub-15s Parquet Runtime: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Clean outputs are serialized to Apache Parquet format; dashboard never reads raw CSV files directly.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2212" y="2057400"/>
            <a:ext cx="5329237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3812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3324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40100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1025" y="469582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High-Speed Pipeline Strategy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33575"/>
            <a:ext cx="1102995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762375"/>
            <a:ext cx="35178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7000" y="3762375"/>
            <a:ext cx="35178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2975" y="3762375"/>
            <a:ext cx="3517999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47002" y="581025"/>
            <a:ext cx="1063972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66775" y="2124075"/>
            <a:ext cx="1103137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Core Cleaning Principle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66775" y="2486025"/>
            <a:ext cx="10506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"If a value is broken, blank the value but keep the row."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66775" y="2828925"/>
            <a:ext cx="105060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Deleting broken rows would severely corrupt total job count metrics. A posting with a missing or invalid salary still proves an active job position existed in Singapore.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186457" y="4057650"/>
            <a:ext cx="27479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Dropped Empty Columns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76300" y="4486275"/>
            <a:ext cx="29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One column was completely blank across all 1.05 million rows. Safely purged to reduce memory footprint.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913858" y="4057650"/>
            <a:ext cx="2778003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Fixed Salary Typing Errors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632275" y="4800600"/>
            <a:ext cx="292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~10,000 postings listed monthly pay as $180,000 (annual typed as monthly). Blanked salary, preserved posting.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755558" y="4057650"/>
            <a:ext cx="268814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Capped Top 1% Outliers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388250" y="4486275"/>
            <a:ext cx="29274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Extreme top 1% executive pay packages were capped rather than deleted, preventing skewed average metrics.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" y="4100512"/>
            <a:ext cx="19585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32275" y="4257675"/>
            <a:ext cx="16728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88250" y="4100512"/>
            <a:ext cx="2530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11 Rules, 1 Core Principle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09775"/>
            <a:ext cx="110299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438650"/>
            <a:ext cx="537210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4438650"/>
            <a:ext cx="537210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14470" y="581025"/>
            <a:ext cx="1796504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/>
          <p:nvPr/>
        </p:nvSpPr>
        <p:spPr>
          <a:xfrm>
            <a:off x="590550" y="2019300"/>
            <a:ext cx="11010900" cy="2171700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5" name="Google Shape;155;p17"/>
          <p:cNvGraphicFramePr/>
          <p:nvPr/>
        </p:nvGraphicFramePr>
        <p:xfrm>
          <a:off x="590550" y="2019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{AEA1C16D-C562-49E4-AE1B-855C4B65312B}</a:tableStyleId>
              </a:tblPr>
              <a:tblGrid>
                <a:gridCol w="2426050"/>
                <a:gridCol w="3074350"/>
                <a:gridCol w="2622500"/>
                <a:gridCol w="2888000"/>
              </a:tblGrid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Data Cleaning Rule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Identified Issue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Action Taken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BDF8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Data Preservation 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 Blank Column Purge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100% null entries across 1.05M records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Dropped column schema-wide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Zero row loss, memory optimized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 Salary Typo Normalization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~10,000 extreme values (e.g. $180k/mo)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Blanked invalid salary field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Row retained for job count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 Outlier Percentile Capping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Top 1% executive pay skewing mean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Winsorized capping at 99th %tile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Averages stabilized without data loss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17"/>
          <p:cNvSpPr/>
          <p:nvPr/>
        </p:nvSpPr>
        <p:spPr>
          <a:xfrm>
            <a:off x="590550" y="2543175"/>
            <a:ext cx="242604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3016597" y="2543175"/>
            <a:ext cx="307434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090939" y="2543175"/>
            <a:ext cx="26225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8713440" y="2543175"/>
            <a:ext cx="2888009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866775" y="4686300"/>
            <a:ext cx="48387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38BDF8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99.6%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66775" y="5276850"/>
            <a:ext cx="4838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ROW SURVIVAL RATE POST-CLEANING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524625" y="4686300"/>
            <a:ext cx="48387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9E0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99.0%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524625" y="5276850"/>
            <a:ext cx="4838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VALID SALARY DISCLOSURE RATE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90550" y="3100387"/>
            <a:ext cx="242604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3016597" y="3100387"/>
            <a:ext cx="30743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090939" y="3100387"/>
            <a:ext cx="2622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8713440" y="3100387"/>
            <a:ext cx="28880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590550" y="3643312"/>
            <a:ext cx="242604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3016597" y="3643312"/>
            <a:ext cx="30743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6090939" y="3643312"/>
            <a:ext cx="2622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8713440" y="3643312"/>
            <a:ext cx="28880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Cleaning Impact &amp; Rule Metrics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3652837"/>
            <a:ext cx="1143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5802510" y="2300287"/>
            <a:ext cx="58682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PART 3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2001425" y="2481262"/>
            <a:ext cx="818914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Data Quality &amp; Traps Uncovered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2286000" y="3929062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How rigorous exploratory analysis prevented major statistical errors before dashboard integration.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76525"/>
            <a:ext cx="5348287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2676525"/>
            <a:ext cx="5348287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04152" y="581025"/>
            <a:ext cx="1006822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1215032" y="3000375"/>
            <a:ext cx="463995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7171"/>
                </a:solidFill>
                <a:latin typeface="Poppins"/>
                <a:ea typeface="Poppins"/>
                <a:cs typeface="Poppins"/>
                <a:sym typeface="Poppins"/>
              </a:rPr>
              <a:t>Trap 1: False Positive Duplicates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76300" y="3429000"/>
            <a:ext cx="475773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Running standard duplicate checks initially flagged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289 rows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as identical duplicate listings.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76300" y="4057650"/>
            <a:ext cx="47577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The Reality: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These records were generic template listings with blank unique IDs. Deleting them would have destroyed legitimate job posting evidence.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925270" y="3000375"/>
            <a:ext cx="460995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Trap 2: Category Multi-Counting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557962" y="3429000"/>
            <a:ext cx="475773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Jobs average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1.69 categories each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, expanding total records from 1.04M to 1.66M when unnested.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557962" y="4057650"/>
            <a:ext cx="4757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The Mistake: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Aggregating jobs by category without de-duplicating unique job IDs overcounts Singapore's job market by 600,000+ postings!</a:t>
            </a:r>
            <a:endParaRPr/>
          </a:p>
        </p:txBody>
      </p:sp>
      <p:pic>
        <p:nvPicPr>
          <p:cNvPr descr="image.png" id="197" name="Google Shape;19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3043237"/>
            <a:ext cx="22443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57962" y="3043237"/>
            <a:ext cx="2530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Two Critical Traps Identified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47082"/>
            <a:ext cx="5348287" cy="2021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80202" y="581025"/>
            <a:ext cx="2130772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971550" y="3237607"/>
            <a:ext cx="456723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NAIVE CATEGORY SUM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971550" y="3447157"/>
            <a:ext cx="4567237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87171"/>
                </a:solidFill>
                <a:latin typeface="Lato"/>
                <a:ea typeface="Lato"/>
                <a:cs typeface="Lato"/>
                <a:sym typeface="Lato"/>
              </a:rPr>
              <a:t>1.66M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971550" y="4296667"/>
            <a:ext cx="45672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vs. True Job Unique IDs: </a:t>
            </a:r>
            <a:r>
              <a:rPr b="1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1.04M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262687" y="2571750"/>
            <a:ext cx="561570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Why Standard GroupBy Broke: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605587" y="3086100"/>
            <a:ext cx="500538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Multi-Label Schema: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Postings regularly tagged with multiple sectors (e.g. "Tech" &amp; "Finance").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605587" y="3771900"/>
            <a:ext cx="500538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1.69 Multiplying Factor: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Unnesting category arrays inflates dataset by 62%.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605587" y="4457700"/>
            <a:ext cx="500538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Our Solution: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Enforced mandatory COUNT(DISTINCT job_id) across all dashboard charts.</a:t>
            </a:r>
            <a:endParaRPr/>
          </a:p>
        </p:txBody>
      </p:sp>
      <p:pic>
        <p:nvPicPr>
          <p:cNvPr descr="image.png" id="215" name="Google Shape;21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2687" y="31099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2687" y="379571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62687" y="44815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1.66M Duplication Bug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95562"/>
            <a:ext cx="1102995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13677" y="581025"/>
            <a:ext cx="997297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581025" y="2633662"/>
            <a:ext cx="561570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Best Discovery in the Talk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581025" y="3081337"/>
            <a:ext cx="53482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Plotting engagement metrics across time revealed an unprecedented cliff edge in June 2023: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923925" y="3709987"/>
            <a:ext cx="500538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Average Views Collapse: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Plunged from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111 views/job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down to just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5 views/job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overnight.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923925" y="4395787"/>
            <a:ext cx="500538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Zero-Applicant Spike: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Postings with 0 applications surged from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18% to 79%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231" name="Google Shape;23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73380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419600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June 2023 Structural Break</a:t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5475"/>
            <a:ext cx="9467850" cy="1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581025" y="485775"/>
            <a:ext cx="9941242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Two Files Stitched Together</a:t>
            </a:r>
            <a:endParaRPr/>
          </a:p>
        </p:txBody>
      </p:sp>
      <p:pic>
        <p:nvPicPr>
          <p:cNvPr descr="image.png"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162300"/>
            <a:ext cx="54997350" cy="412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581025" y="1114425"/>
            <a:ext cx="994124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The Root Cause &amp; Strategy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581025" y="1524000"/>
            <a:ext cx="9467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dataset was secretly two different backend systems merged at June 2023. Post-June counters (views &amp; applications) were frozen/unrecorded.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762000" y="2076450"/>
            <a:ext cx="956119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9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Our Golden Rule for the Dashboard:</a:t>
            </a:r>
            <a:endParaRPr/>
          </a:p>
        </p:txBody>
      </p:sp>
      <p:pic>
        <p:nvPicPr>
          <p:cNvPr descr="image.png" id="246" name="Google Shape;24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114550"/>
            <a:ext cx="149423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762000" y="2390775"/>
            <a:ext cx="9105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Use Full 1.04M Rows: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For macro job counts, salary benchmarks, and industry breakdown.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762000" y="2724150"/>
            <a:ext cx="9105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Restrict to ~200k Pre-June Rows: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When analyzing user engagement, views, and competition ratios.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43025"/>
            <a:ext cx="11029950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8365" y="581025"/>
            <a:ext cx="1592609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2662237" y="4814887"/>
            <a:ext cx="6867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"Protect Part 4: The June 2023 story is our strongest empirical finding and must be defended under Q&amp;A."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Key Data Metrics Known Cold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581025" y="108585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9912" y="3200400"/>
            <a:ext cx="5972175" cy="13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2960608" y="1847850"/>
            <a:ext cx="627078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Defensive Q&amp;A Ready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3109912" y="2628900"/>
            <a:ext cx="5972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Data cleaned. Traps resolved. System boundary established.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5453062" y="4838700"/>
            <a:ext cx="36290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Career Compass SG · Group 7  Timing Budget: 3:30 / 4:00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3270646" y="3495675"/>
            <a:ext cx="565070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Handover to Section 3 (App Walkthrough)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3405187" y="3924300"/>
            <a:ext cx="5381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"That's the data. Now let's see the dashboard we built on top of it."</a:t>
            </a:r>
            <a:endParaRPr/>
          </a:p>
        </p:txBody>
      </p:sp>
      <p:pic>
        <p:nvPicPr>
          <p:cNvPr descr="image.png" id="270" name="Google Shape;27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5737" y="4857750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8887" y="4857750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